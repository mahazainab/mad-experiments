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70429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D4E8E8"/>
          </a:solidFill>
          <a:ln w="12700">
            <a:solidFill>
              <a:srgbClr val="D4E8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Shape 1"/>
          <p:cNvSpPr/>
          <p:nvPr/>
        </p:nvSpPr>
        <p:spPr>
          <a:xfrm>
            <a:off x="3474720" y="0"/>
            <a:ext cx="36576" cy="5143500"/>
          </a:xfrm>
          <a:prstGeom prst="rect">
            <a:avLst/>
          </a:prstGeom>
          <a:solidFill>
            <a:srgbClr val="7AADAD"/>
          </a:solidFill>
          <a:ln w="12700">
            <a:solidFill>
              <a:srgbClr val="7AAD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91440" y="128016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4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MMAD</a:t>
            </a:r>
            <a:endParaRPr lang="en-US" sz="5800" dirty="0"/>
          </a:p>
        </p:txBody>
      </p:sp>
      <p:sp>
        <p:nvSpPr>
          <p:cNvPr id="5" name="Text 3"/>
          <p:cNvSpPr/>
          <p:nvPr/>
        </p:nvSpPr>
        <p:spPr>
          <a:xfrm>
            <a:off x="274320" y="246888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 Awareness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931920" y="11887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Theory-of-Mind Framework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931920" y="17830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Stabilising Small Language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Debate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931920" y="2743200"/>
            <a:ext cx="4572000" cy="27432"/>
          </a:xfrm>
          <a:prstGeom prst="rect">
            <a:avLst/>
          </a:prstGeom>
          <a:solidFill>
            <a:srgbClr val="DDD8D0"/>
          </a:solidFill>
          <a:ln w="1270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Focus on Small Language Models?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86384"/>
            <a:ext cx="182880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946404"/>
            <a:ext cx="3581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debate already works for large LLMs. The real-world opportunity is making it work for small ones.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546860"/>
            <a:ext cx="2606040" cy="1150620"/>
          </a:xfrm>
          <a:prstGeom prst="rect">
            <a:avLst/>
          </a:prstGeom>
          <a:solidFill>
            <a:srgbClr val="F5EDD8"/>
          </a:solidFill>
          <a:ln w="9525">
            <a:solidFill>
              <a:srgbClr val="C89B4F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10540" y="1557528"/>
            <a:ext cx="2606040" cy="36576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621792" y="163372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Efficient Inference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" y="1824228"/>
            <a:ext cx="2377440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memory footprint and faster inference make SLMs viable for multi-agent systems at scale.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8321040" cy="27432"/>
          </a:xfrm>
          <a:prstGeom prst="rect">
            <a:avLst/>
          </a:prstGeom>
          <a:solidFill>
            <a:srgbClr val="E8E2D8"/>
          </a:solidFill>
          <a:ln w="12700">
            <a:solidFill>
              <a:srgbClr val="E8E2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57200" y="294436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5C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3310128"/>
            <a:ext cx="4023360" cy="1463040"/>
          </a:xfrm>
          <a:prstGeom prst="rect">
            <a:avLst/>
          </a:prstGeom>
          <a:solidFill>
            <a:srgbClr val="F0DDD5"/>
          </a:solidFill>
          <a:ln w="9525">
            <a:solidFill>
              <a:srgbClr val="B05C3A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0" name="Shape 18"/>
          <p:cNvSpPr/>
          <p:nvPr/>
        </p:nvSpPr>
        <p:spPr>
          <a:xfrm>
            <a:off x="457200" y="3310128"/>
            <a:ext cx="45720" cy="1463040"/>
          </a:xfrm>
          <a:prstGeom prst="rect">
            <a:avLst/>
          </a:prstGeom>
          <a:solidFill>
            <a:srgbClr val="B05C3A"/>
          </a:solidFill>
          <a:ln w="12700">
            <a:solidFill>
              <a:srgbClr val="B05C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1" name="Text 19"/>
          <p:cNvSpPr/>
          <p:nvPr/>
        </p:nvSpPr>
        <p:spPr>
          <a:xfrm>
            <a:off x="621792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fails SLMs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" y="3675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large LLMs, SLMs in standard debate achieve only 30–40% accuracy — often performing worse than their independent baseline.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3310128"/>
            <a:ext cx="4023360" cy="1463040"/>
          </a:xfrm>
          <a:prstGeom prst="rect">
            <a:avLst/>
          </a:prstGeom>
          <a:solidFill>
            <a:srgbClr val="F5EDD8"/>
          </a:solidFill>
          <a:ln w="9525">
            <a:solidFill>
              <a:srgbClr val="C89B4F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4" name="Shape 22"/>
          <p:cNvSpPr/>
          <p:nvPr/>
        </p:nvSpPr>
        <p:spPr>
          <a:xfrm>
            <a:off x="4709160" y="3310128"/>
            <a:ext cx="45720" cy="1463040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5" name="Text 23"/>
          <p:cNvSpPr/>
          <p:nvPr/>
        </p:nvSpPr>
        <p:spPr>
          <a:xfrm>
            <a:off x="4873752" y="3364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Sycophantic drift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73752" y="3675888"/>
            <a:ext cx="3749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abandon correct answers under peer pressure. They treat numerical consensus as a proxy for correctness rather than evaluating reasoning quality.</a:t>
            </a:r>
            <a:endParaRPr lang="en-US" sz="1050" dirty="0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1E8C7380-D26B-C55C-266C-282C71329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771144"/>
            <a:ext cx="3935713" cy="198996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vs SLM in Multi-Agent Debate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64592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gains from debate come at a steep cost for large models — and break down entirely for small ones.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65760" y="1207008"/>
            <a:ext cx="2560320" cy="36576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365760" y="120700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017520" y="1207008"/>
            <a:ext cx="2971800" cy="365760"/>
          </a:xfrm>
          <a:prstGeom prst="rect">
            <a:avLst/>
          </a:prstGeom>
          <a:solidFill>
            <a:srgbClr val="D4E8E8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3017520" y="120700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LLMs (70B+)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080760" y="1207008"/>
            <a:ext cx="2788920" cy="365760"/>
          </a:xfrm>
          <a:prstGeom prst="rect">
            <a:avLst/>
          </a:prstGeom>
          <a:solidFill>
            <a:srgbClr val="F0DDD5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Text 8"/>
          <p:cNvSpPr/>
          <p:nvPr/>
        </p:nvSpPr>
        <p:spPr>
          <a:xfrm>
            <a:off x="6080760" y="1207008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LLMs (3–8B)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572768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Text 10"/>
          <p:cNvSpPr/>
          <p:nvPr/>
        </p:nvSpPr>
        <p:spPr>
          <a:xfrm>
            <a:off x="475488" y="15727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Debate accuracy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017520" y="1572768"/>
            <a:ext cx="2971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4" name="Text 12"/>
          <p:cNvSpPr/>
          <p:nvPr/>
        </p:nvSpPr>
        <p:spPr>
          <a:xfrm>
            <a:off x="3127248" y="157276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Improves reasoning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80760" y="1572768"/>
            <a:ext cx="2788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Text 14"/>
          <p:cNvSpPr/>
          <p:nvPr/>
        </p:nvSpPr>
        <p:spPr>
          <a:xfrm>
            <a:off x="6190488" y="157276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30–40% — often worse than baseline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084832"/>
            <a:ext cx="256032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75488" y="208483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per agent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017520" y="2084832"/>
            <a:ext cx="297180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0" name="Text 18"/>
          <p:cNvSpPr/>
          <p:nvPr/>
        </p:nvSpPr>
        <p:spPr>
          <a:xfrm>
            <a:off x="3127248" y="2084832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~140 GB (70B, fp16)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080760" y="2084832"/>
            <a:ext cx="278892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Text 20"/>
          <p:cNvSpPr/>
          <p:nvPr/>
        </p:nvSpPr>
        <p:spPr>
          <a:xfrm>
            <a:off x="6190488" y="208483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~6–16 GB (3–8B, fp16)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596896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75488" y="259689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speed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017520" y="2596896"/>
            <a:ext cx="2971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6" name="Text 24"/>
          <p:cNvSpPr/>
          <p:nvPr/>
        </p:nvSpPr>
        <p:spPr>
          <a:xfrm>
            <a:off x="3127248" y="2596896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— minutes per round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80760" y="2596896"/>
            <a:ext cx="2788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6190488" y="2596896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— seconds per round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65760" y="3108960"/>
            <a:ext cx="256032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75488" y="310896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cost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017520" y="3108960"/>
            <a:ext cx="297180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2" name="Text 30"/>
          <p:cNvSpPr/>
          <p:nvPr/>
        </p:nvSpPr>
        <p:spPr>
          <a:xfrm>
            <a:off x="3127248" y="3108960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Prohibitive at scale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080760" y="3108960"/>
            <a:ext cx="278892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4" name="Text 32"/>
          <p:cNvSpPr/>
          <p:nvPr/>
        </p:nvSpPr>
        <p:spPr>
          <a:xfrm>
            <a:off x="6190488" y="3108960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Feasible on commodity hardware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621024"/>
            <a:ext cx="25603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Text 34"/>
          <p:cNvSpPr/>
          <p:nvPr/>
        </p:nvSpPr>
        <p:spPr>
          <a:xfrm>
            <a:off x="475488" y="362102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Drift under pressure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017520" y="3621024"/>
            <a:ext cx="29718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8" name="Text 36"/>
          <p:cNvSpPr/>
          <p:nvPr/>
        </p:nvSpPr>
        <p:spPr>
          <a:xfrm>
            <a:off x="3127248" y="3621024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 — strong priors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080760" y="3621024"/>
            <a:ext cx="27889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0" name="Text 38"/>
          <p:cNvSpPr/>
          <p:nvPr/>
        </p:nvSpPr>
        <p:spPr>
          <a:xfrm>
            <a:off x="6190488" y="3621024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 — sycophantic collapse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4133088"/>
            <a:ext cx="256032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2" name="Text 40"/>
          <p:cNvSpPr/>
          <p:nvPr/>
        </p:nvSpPr>
        <p:spPr>
          <a:xfrm>
            <a:off x="475488" y="413308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focus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3017520" y="4133088"/>
            <a:ext cx="297180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4" name="Text 42"/>
          <p:cNvSpPr/>
          <p:nvPr/>
        </p:nvSpPr>
        <p:spPr>
          <a:xfrm>
            <a:off x="3127248" y="4133088"/>
            <a:ext cx="2788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needed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080760" y="4133088"/>
            <a:ext cx="2788920" cy="47548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6" name="Text 44"/>
          <p:cNvSpPr/>
          <p:nvPr/>
        </p:nvSpPr>
        <p:spPr>
          <a:xfrm>
            <a:off x="6190488" y="4133088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— this paper's contribution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365760" y="4645152"/>
            <a:ext cx="8412480" cy="310896"/>
          </a:xfrm>
          <a:prstGeom prst="rect">
            <a:avLst/>
          </a:prstGeom>
          <a:solidFill>
            <a:srgbClr val="D4E8E8"/>
          </a:solidFill>
          <a:ln w="6350">
            <a:solidFill>
              <a:srgbClr val="7AAD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8" name="Text 46"/>
          <p:cNvSpPr/>
          <p:nvPr/>
        </p:nvSpPr>
        <p:spPr>
          <a:xfrm>
            <a:off x="502920" y="4645152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match LLM debate quality using SLMs, with a fraction of the compute — by fixing robustness, not scaling up.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Sycophantic Drift in Action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28016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8321040" cy="438912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Text 3"/>
          <p:cNvSpPr/>
          <p:nvPr/>
        </p:nvSpPr>
        <p:spPr>
          <a:xfrm>
            <a:off x="594360" y="914400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 120 new students (avg age 32) join a school; overall avg age drops 40 → 36. How many students now?     Gold answer: (d) 240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457200" y="1444752"/>
            <a:ext cx="1463040" cy="32004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457200" y="1444752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965960" y="1444752"/>
            <a:ext cx="1325880" cy="32004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196596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44752"/>
            <a:ext cx="1325880" cy="32004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333756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444752"/>
            <a:ext cx="1325880" cy="32004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470916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0760" y="1444752"/>
            <a:ext cx="1325880" cy="32004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5" name="Text 13"/>
          <p:cNvSpPr/>
          <p:nvPr/>
        </p:nvSpPr>
        <p:spPr>
          <a:xfrm>
            <a:off x="6080760" y="14447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498080" y="1444752"/>
            <a:ext cx="1188720" cy="320040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57200" y="1764792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457200" y="1764792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Agent-1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965960" y="1764792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✗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1764792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764792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self-corrects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1764792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478024"/>
            <a:ext cx="8229600" cy="658368"/>
          </a:xfrm>
          <a:prstGeom prst="rect">
            <a:avLst/>
          </a:prstGeom>
          <a:solidFill>
            <a:srgbClr val="F0DDD5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4" name="Text 22"/>
          <p:cNvSpPr/>
          <p:nvPr/>
        </p:nvSpPr>
        <p:spPr>
          <a:xfrm>
            <a:off x="457200" y="2478024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Agent-2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965960" y="2478024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478024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(d) ✓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firm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2478024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080760" y="2478024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Drifts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57200" y="3191256"/>
            <a:ext cx="82296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0" name="Text 28"/>
          <p:cNvSpPr/>
          <p:nvPr/>
        </p:nvSpPr>
        <p:spPr>
          <a:xfrm>
            <a:off x="457200" y="3191256"/>
            <a:ext cx="146304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Agent-3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Phi-4-mini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965960" y="3191256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misreads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37560" y="3191256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09160" y="3191256"/>
            <a:ext cx="132588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✗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unchanged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080760" y="3191256"/>
            <a:ext cx="1325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8F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change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977640"/>
            <a:ext cx="8229600" cy="777240"/>
          </a:xfrm>
          <a:prstGeom prst="rect">
            <a:avLst/>
          </a:prstGeom>
          <a:solidFill>
            <a:srgbClr val="F0DDD5"/>
          </a:solidFill>
          <a:ln w="9525">
            <a:solidFill>
              <a:srgbClr val="B05C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6" name="Shape 34"/>
          <p:cNvSpPr/>
          <p:nvPr/>
        </p:nvSpPr>
        <p:spPr>
          <a:xfrm>
            <a:off x="457200" y="3977640"/>
            <a:ext cx="45720" cy="777240"/>
          </a:xfrm>
          <a:prstGeom prst="rect">
            <a:avLst/>
          </a:prstGeom>
          <a:solidFill>
            <a:srgbClr val="B05C3A"/>
          </a:solidFill>
          <a:ln w="12700">
            <a:solidFill>
              <a:srgbClr val="B05C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7" name="Text 35"/>
          <p:cNvSpPr/>
          <p:nvPr/>
        </p:nvSpPr>
        <p:spPr>
          <a:xfrm>
            <a:off x="640080" y="4023360"/>
            <a:ext cx="79552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held the correct answer through Round 1. Facing 2-vs-1 pressure in Round 2, it abandoned sound reasoning. The correct answer was present in the group all along — debate suppressed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MMAD Solution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0584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Two-Tier Mutual Theory of Mind (MToM) Framework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321040" cy="566928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640080" y="1207008"/>
            <a:ext cx="7955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 classroom group study — peers first, then a teacher steps in with targeted questions that expose each student's specific misconception, without revealing the answer.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92024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7AADAD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3977640" cy="384048"/>
          </a:xfrm>
          <a:prstGeom prst="rect">
            <a:avLst/>
          </a:prstGeom>
          <a:solidFill>
            <a:srgbClr val="D4E8E8"/>
          </a:solidFill>
          <a:ln w="12700">
            <a:solidFill>
              <a:srgbClr val="D4E8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9" name="Text 7"/>
          <p:cNvSpPr/>
          <p:nvPr/>
        </p:nvSpPr>
        <p:spPr>
          <a:xfrm>
            <a:off x="548640" y="19385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 —  Peer-Level MToM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AAD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Study Rounds  (1, 3…)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651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Each agent reads peers' full reasoning traces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3127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Must model why each peer reached their answer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36027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Only updates if peer reasoning is genuinely stronger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94360" y="40782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Directly targets drift: 2 wrong peers ≠ correct answer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709160" y="1920240"/>
            <a:ext cx="397764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89B4F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4709160" y="1920240"/>
            <a:ext cx="3977640" cy="384048"/>
          </a:xfrm>
          <a:prstGeom prst="rect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4800600" y="193852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  —  Teacher-Level MToM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00600" y="234086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Teacher-Guided Rounds  (2, 4…)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651760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30B teacher performs second-order Theory of Mind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46320" y="3127248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Reasons about why each agent made its specific error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846320" y="3602736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Delivers personalised guidance per agent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846320" y="4078224"/>
            <a:ext cx="3749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Corrects shared misconceptions peer exchange cannot resolve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MMAD Works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82296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FA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round schedule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8229600" cy="530352"/>
          </a:xfrm>
          <a:prstGeom prst="rect">
            <a:avLst/>
          </a:prstGeom>
          <a:solidFill>
            <a:srgbClr val="F2EFE9"/>
          </a:solidFill>
          <a:ln w="6350">
            <a:solidFill>
              <a:srgbClr val="DDD8D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Text 4"/>
          <p:cNvSpPr/>
          <p:nvPr/>
        </p:nvSpPr>
        <p:spPr>
          <a:xfrm>
            <a:off x="594360" y="1188720"/>
            <a:ext cx="2743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— Independent Baseline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0" y="1188720"/>
            <a:ext cx="52120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(3–8B SLM) solves the problem independently with no peer information.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45720" cy="594360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0" name="Shape 8"/>
          <p:cNvSpPr/>
          <p:nvPr/>
        </p:nvSpPr>
        <p:spPr>
          <a:xfrm>
            <a:off x="594360" y="1965960"/>
            <a:ext cx="914400" cy="274320"/>
          </a:xfrm>
          <a:prstGeom prst="rect">
            <a:avLst/>
          </a:prstGeom>
          <a:solidFill>
            <a:srgbClr val="D4E8E8"/>
          </a:solidFill>
          <a:ln w="635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1" name="Text 9"/>
          <p:cNvSpPr/>
          <p:nvPr/>
        </p:nvSpPr>
        <p:spPr>
          <a:xfrm>
            <a:off x="594360" y="1965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627632" y="188366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  (Odd) — Tier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27632" y="2139696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read each other's full reasoning traces. Must model why each peer reached their answer before deciding whether to update.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505456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5" name="Shape 13"/>
          <p:cNvSpPr/>
          <p:nvPr/>
        </p:nvSpPr>
        <p:spPr>
          <a:xfrm>
            <a:off x="457200" y="2505456"/>
            <a:ext cx="45720" cy="594360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594360" y="2642616"/>
            <a:ext cx="914400" cy="274320"/>
          </a:xfrm>
          <a:prstGeom prst="rect">
            <a:avLst/>
          </a:prstGeom>
          <a:solidFill>
            <a:srgbClr val="F5EDD8"/>
          </a:solidFill>
          <a:ln w="635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Text 15"/>
          <p:cNvSpPr/>
          <p:nvPr/>
        </p:nvSpPr>
        <p:spPr>
          <a:xfrm>
            <a:off x="594360" y="264261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27632" y="256032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  (Even) — Tier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627632" y="2816352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30B teacher model analyses each agent's individual error and sends personalised guidance targeting specific misconceptions.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182112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457200" y="3182112"/>
            <a:ext cx="45720" cy="594360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594360" y="3319272"/>
            <a:ext cx="914400" cy="274320"/>
          </a:xfrm>
          <a:prstGeom prst="rect">
            <a:avLst/>
          </a:prstGeom>
          <a:solidFill>
            <a:srgbClr val="D4E8E8"/>
          </a:solidFill>
          <a:ln w="635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594360" y="33192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627632" y="3236976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3  (Odd) — Tier 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27632" y="3493008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peer round — agents re-evaluate with enriched understanding. Can now assess whether teacher guidance improved peers' reasoning.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3858768"/>
            <a:ext cx="82296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D8D0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57200" y="3858768"/>
            <a:ext cx="45720" cy="594360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Shape 26"/>
          <p:cNvSpPr/>
          <p:nvPr/>
        </p:nvSpPr>
        <p:spPr>
          <a:xfrm>
            <a:off x="594360" y="3995928"/>
            <a:ext cx="914400" cy="274320"/>
          </a:xfrm>
          <a:prstGeom prst="rect">
            <a:avLst/>
          </a:prstGeom>
          <a:solidFill>
            <a:srgbClr val="F5EDD8"/>
          </a:solidFill>
          <a:ln w="635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9" name="Text 27"/>
          <p:cNvSpPr/>
          <p:nvPr/>
        </p:nvSpPr>
        <p:spPr>
          <a:xfrm>
            <a:off x="594360" y="39959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C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627632" y="391363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4  (Even) — Tier 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627632" y="4169664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re-evaluates and addresses any remaining misconceptions with a second round of targeted, personalised guidance.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4572000"/>
            <a:ext cx="8229600" cy="310896"/>
          </a:xfrm>
          <a:prstGeom prst="rect">
            <a:avLst/>
          </a:prstGeom>
          <a:solidFill>
            <a:srgbClr val="D4E8E8"/>
          </a:solidFill>
          <a:ln w="6350">
            <a:solidFill>
              <a:srgbClr val="7AAD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3" name="Text 31"/>
          <p:cNvSpPr/>
          <p:nvPr/>
        </p:nvSpPr>
        <p:spPr>
          <a:xfrm>
            <a:off x="548640" y="4572000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Alternating structure enables independent measurement of each tier's contribution to accuracy and stability.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Expect to Show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49808"/>
            <a:ext cx="109728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7AADAD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45720" cy="1115568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640080" y="1298448"/>
            <a:ext cx="566928" cy="475488"/>
          </a:xfrm>
          <a:prstGeom prst="roundRect">
            <a:avLst>
              <a:gd name="adj" fmla="val 9615"/>
            </a:avLst>
          </a:prstGeom>
          <a:solidFill>
            <a:srgbClr val="D4E8E8"/>
          </a:solidFill>
          <a:ln w="6350">
            <a:solidFill>
              <a:srgbClr val="7AADAD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Text 5"/>
          <p:cNvSpPr/>
          <p:nvPr/>
        </p:nvSpPr>
        <p:spPr>
          <a:xfrm>
            <a:off x="640080" y="1298448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A8C8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1133856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Peer-Level MToM reduces sycophantic drift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463040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Correct-to-incorrect flips are measurably reduced vs. standard debate, as agents evaluate reasoning quality rather than counting votes.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267712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C89B4F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457200" y="2267712"/>
            <a:ext cx="45720" cy="1115568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640080" y="2560320"/>
            <a:ext cx="566928" cy="475488"/>
          </a:xfrm>
          <a:prstGeom prst="roundRect">
            <a:avLst>
              <a:gd name="adj" fmla="val 9615"/>
            </a:avLst>
          </a:prstGeom>
          <a:solidFill>
            <a:srgbClr val="F5EDD8"/>
          </a:solidFill>
          <a:ln w="635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640080" y="2560320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9B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2395728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Teacher-Level MToM corrects shared misconceptions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724912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all agents converge on the same wrong answer, peer exchange alone cannot break the deadlock — targeted teacher intervention can.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7200" y="3529584"/>
            <a:ext cx="8321040" cy="1115568"/>
          </a:xfrm>
          <a:prstGeom prst="rect">
            <a:avLst/>
          </a:prstGeom>
          <a:solidFill>
            <a:srgbClr val="FFFFFF"/>
          </a:solidFill>
          <a:ln w="9525">
            <a:solidFill>
              <a:srgbClr val="7A9E7E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457200" y="3529584"/>
            <a:ext cx="45720" cy="1115568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Shape 16"/>
          <p:cNvSpPr/>
          <p:nvPr/>
        </p:nvSpPr>
        <p:spPr>
          <a:xfrm>
            <a:off x="640080" y="3822192"/>
            <a:ext cx="566928" cy="475488"/>
          </a:xfrm>
          <a:prstGeom prst="roundRect">
            <a:avLst>
              <a:gd name="adj" fmla="val 9615"/>
            </a:avLst>
          </a:prstGeom>
          <a:solidFill>
            <a:srgbClr val="DFF0E0"/>
          </a:solidFill>
          <a:ln w="6350">
            <a:solidFill>
              <a:srgbClr val="7A9E7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9" name="Text 17"/>
          <p:cNvSpPr/>
          <p:nvPr/>
        </p:nvSpPr>
        <p:spPr>
          <a:xfrm>
            <a:off x="640080" y="3822192"/>
            <a:ext cx="5669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A9E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3657600"/>
            <a:ext cx="7223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Together: Accuracy ↑ and Drift ↓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986784"/>
            <a:ext cx="72237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combined signature of the framework working as intended — rising accuracy alongside falling drift rates across rounds, not a trade-off.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811ED9-C9E0-84F7-A9B8-27D8BD333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1965" y="482600"/>
            <a:ext cx="7440068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03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A1F0C56-37D1-FD09-7F2E-5653C8A526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376" y="482600"/>
            <a:ext cx="7461247" cy="4178299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1357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2C3B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MMAD —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0" y="749808"/>
            <a:ext cx="2194560" cy="27432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B05C3A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2743200" cy="347472"/>
          </a:xfrm>
          <a:prstGeom prst="rect">
            <a:avLst/>
          </a:prstGeom>
          <a:solidFill>
            <a:srgbClr val="F0DDD5"/>
          </a:solidFill>
          <a:ln w="12700">
            <a:solidFill>
              <a:srgbClr val="F0DDD5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5720" cy="1554480"/>
          </a:xfrm>
          <a:prstGeom prst="rect">
            <a:avLst/>
          </a:prstGeom>
          <a:solidFill>
            <a:srgbClr val="B05C3A"/>
          </a:solidFill>
          <a:ln w="12700">
            <a:solidFill>
              <a:srgbClr val="B05C3A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8" name="Text 6"/>
          <p:cNvSpPr/>
          <p:nvPr/>
        </p:nvSpPr>
        <p:spPr>
          <a:xfrm>
            <a:off x="411480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05C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1362456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SLMs in debate achieve only 30–40% accuracy. Correct answers are abandoned under peer pressure — sycophantic drift.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9601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9B4F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1" name="Shape 9"/>
          <p:cNvSpPr/>
          <p:nvPr/>
        </p:nvSpPr>
        <p:spPr>
          <a:xfrm>
            <a:off x="3246120" y="960120"/>
            <a:ext cx="2743200" cy="347472"/>
          </a:xfrm>
          <a:prstGeom prst="rect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2" name="Shape 10"/>
          <p:cNvSpPr/>
          <p:nvPr/>
        </p:nvSpPr>
        <p:spPr>
          <a:xfrm>
            <a:off x="3246120" y="960120"/>
            <a:ext cx="45720" cy="1554480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3" name="Text 11"/>
          <p:cNvSpPr/>
          <p:nvPr/>
        </p:nvSpPr>
        <p:spPr>
          <a:xfrm>
            <a:off x="3383280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1362456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a robustness problem, not a knowledge problem. SLMs treat numerical consensus as a proxy for correctness.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4A8C8C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16" name="Shape 14"/>
          <p:cNvSpPr/>
          <p:nvPr/>
        </p:nvSpPr>
        <p:spPr>
          <a:xfrm>
            <a:off x="6217920" y="960120"/>
            <a:ext cx="2743200" cy="347472"/>
          </a:xfrm>
          <a:prstGeom prst="rect">
            <a:avLst/>
          </a:prstGeom>
          <a:solidFill>
            <a:srgbClr val="D4E8E8"/>
          </a:solidFill>
          <a:ln w="12700">
            <a:solidFill>
              <a:srgbClr val="D4E8E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7" name="Shape 15"/>
          <p:cNvSpPr/>
          <p:nvPr/>
        </p:nvSpPr>
        <p:spPr>
          <a:xfrm>
            <a:off x="6217920" y="960120"/>
            <a:ext cx="45720" cy="1554480"/>
          </a:xfrm>
          <a:prstGeom prst="rect">
            <a:avLst/>
          </a:prstGeom>
          <a:solidFill>
            <a:srgbClr val="4A8C8C"/>
          </a:solidFill>
          <a:ln w="12700">
            <a:solidFill>
              <a:srgbClr val="4A8C8C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18" name="Text 16"/>
          <p:cNvSpPr/>
          <p:nvPr/>
        </p:nvSpPr>
        <p:spPr>
          <a:xfrm>
            <a:off x="6355080" y="96012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1362456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Peer-Level MToM: agents model peer reasoning before updating. Targets drift on odd rounds.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737360" y="27432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C89B4F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1" name="Shape 19"/>
          <p:cNvSpPr/>
          <p:nvPr/>
        </p:nvSpPr>
        <p:spPr>
          <a:xfrm>
            <a:off x="1737360" y="2743200"/>
            <a:ext cx="2743200" cy="347472"/>
          </a:xfrm>
          <a:prstGeom prst="rect">
            <a:avLst/>
          </a:prstGeom>
          <a:solidFill>
            <a:srgbClr val="F5EDD8"/>
          </a:solidFill>
          <a:ln w="12700">
            <a:solidFill>
              <a:srgbClr val="F5EDD8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2" name="Shape 20"/>
          <p:cNvSpPr/>
          <p:nvPr/>
        </p:nvSpPr>
        <p:spPr>
          <a:xfrm>
            <a:off x="1737360" y="2743200"/>
            <a:ext cx="45720" cy="1554480"/>
          </a:xfrm>
          <a:prstGeom prst="rect">
            <a:avLst/>
          </a:prstGeom>
          <a:solidFill>
            <a:srgbClr val="C89B4F"/>
          </a:solidFill>
          <a:ln w="12700">
            <a:solidFill>
              <a:srgbClr val="C89B4F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3" name="Text 21"/>
          <p:cNvSpPr/>
          <p:nvPr/>
        </p:nvSpPr>
        <p:spPr>
          <a:xfrm>
            <a:off x="187452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9B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874520" y="3145536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Teacher-Level MToM: 30B model provides personalised guidance addressing each agent's specific misconception.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2743200"/>
            <a:ext cx="274320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7A9E7E"/>
            </a:solidFill>
            <a:prstDash val="solid"/>
          </a:ln>
          <a:effectLst>
            <a:outerShdw blurRad="76200" dist="25400" dir="8100000" algn="bl" rotWithShape="0">
              <a:srgbClr val="9AABA0">
                <a:alpha val="12000"/>
              </a:srgbClr>
            </a:outerShdw>
          </a:effectLst>
        </p:spPr>
        <p:txBody>
          <a:bodyPr/>
          <a:lstStyle/>
          <a:p>
            <a:endParaRPr lang="en-PK"/>
          </a:p>
        </p:txBody>
      </p:sp>
      <p:sp>
        <p:nvSpPr>
          <p:cNvPr id="26" name="Shape 24"/>
          <p:cNvSpPr/>
          <p:nvPr/>
        </p:nvSpPr>
        <p:spPr>
          <a:xfrm>
            <a:off x="4709160" y="2743200"/>
            <a:ext cx="2743200" cy="347472"/>
          </a:xfrm>
          <a:prstGeom prst="rect">
            <a:avLst/>
          </a:prstGeom>
          <a:solidFill>
            <a:srgbClr val="DFF0E0"/>
          </a:solidFill>
          <a:ln w="12700">
            <a:solidFill>
              <a:srgbClr val="DFF0E0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7" name="Shape 25"/>
          <p:cNvSpPr/>
          <p:nvPr/>
        </p:nvSpPr>
        <p:spPr>
          <a:xfrm>
            <a:off x="4709160" y="2743200"/>
            <a:ext cx="45720" cy="1554480"/>
          </a:xfrm>
          <a:prstGeom prst="rect">
            <a:avLst/>
          </a:prstGeom>
          <a:solidFill>
            <a:srgbClr val="7A9E7E"/>
          </a:solidFill>
          <a:ln w="12700">
            <a:solidFill>
              <a:srgbClr val="7A9E7E"/>
            </a:solidFill>
            <a:prstDash val="solid"/>
          </a:ln>
        </p:spPr>
        <p:txBody>
          <a:bodyPr/>
          <a:lstStyle/>
          <a:p>
            <a:endParaRPr lang="en-PK"/>
          </a:p>
        </p:txBody>
      </p:sp>
      <p:sp>
        <p:nvSpPr>
          <p:cNvPr id="28" name="Text 26"/>
          <p:cNvSpPr/>
          <p:nvPr/>
        </p:nvSpPr>
        <p:spPr>
          <a:xfrm>
            <a:off x="4846320" y="2743200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A9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145536"/>
            <a:ext cx="251460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A6E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accuracy and falling drift rates — more correct answers that also stay stable across rounds.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868</Words>
  <Application>Microsoft Office PowerPoint</Application>
  <PresentationFormat>On-screen Show (16:9)</PresentationFormat>
  <Paragraphs>135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MMAD: Multi-Agent Mutual Awareness Debate</dc:title>
  <dc:subject>PptxGenJS Presentation</dc:subject>
  <dc:creator>PptxGenJS</dc:creator>
  <cp:lastModifiedBy>Maha Zainab</cp:lastModifiedBy>
  <cp:revision>6</cp:revision>
  <dcterms:created xsi:type="dcterms:W3CDTF">2026-03-05T19:21:57Z</dcterms:created>
  <dcterms:modified xsi:type="dcterms:W3CDTF">2026-03-05T19:43:46Z</dcterms:modified>
</cp:coreProperties>
</file>